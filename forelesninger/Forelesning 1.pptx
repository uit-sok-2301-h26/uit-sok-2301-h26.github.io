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1" r:id="rId2"/>
    <p:sldId id="263" r:id="rId3"/>
    <p:sldId id="265" r:id="rId4"/>
    <p:sldId id="268" r:id="rId5"/>
    <p:sldId id="262" r:id="rId6"/>
    <p:sldId id="271" r:id="rId7"/>
    <p:sldId id="270" r:id="rId8"/>
    <p:sldId id="257" r:id="rId9"/>
    <p:sldId id="258" r:id="rId10"/>
    <p:sldId id="259" r:id="rId11"/>
    <p:sldId id="260" r:id="rId12"/>
    <p:sldId id="264" r:id="rId13"/>
    <p:sldId id="277" r:id="rId14"/>
    <p:sldId id="276" r:id="rId15"/>
    <p:sldId id="269" r:id="rId16"/>
    <p:sldId id="274" r:id="rId17"/>
    <p:sldId id="275" r:id="rId18"/>
    <p:sldId id="273" r:id="rId19"/>
    <p:sldId id="272" r:id="rId20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4" dt="2026-08-17T09:01:51.9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09:22:51.610" v="3183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9:22:51.610" v="3183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3T08:24:21.076" v="1498" actId="2660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">
          <ac:chgData name="Espen Sirnes" userId="a3dc4f38-a105-43a6-a77e-f1a999ec558b" providerId="ADAL" clId="{EA2A2A98-0D86-4FD2-8A8E-2B4D48E3B936}" dt="2026-08-13T08:24:21.076" v="1498" actId="2660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del mod modClrScheme chgLayout">
        <pc:chgData name="Espen Sirnes" userId="a3dc4f38-a105-43a6-a77e-f1a999ec558b" providerId="ADAL" clId="{EA2A2A98-0D86-4FD2-8A8E-2B4D48E3B936}" dt="2026-08-17T09:12:32.530" v="3179" actId="47"/>
        <pc:sldMkLst>
          <pc:docMk/>
          <pc:sldMk cId="144262788" sldId="266"/>
        </pc:sldMkLst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9:03:05.942" v="3178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9:02:36.799" v="3174" actId="20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</pc:docChg>
  </pc:docChgLst>
</pc:chgInfo>
</file>

<file path=ppt/diagrams/_rels/data5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_rels/drawing5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 dirty="0"/>
            <a:t>Sir William Petty (1623–1687): </a:t>
          </a:r>
          <a:r>
            <a:rPr lang="en-US" dirty="0" err="1"/>
            <a:t>tidlig</a:t>
          </a:r>
          <a:r>
            <a:rPr lang="en-US" dirty="0"/>
            <a:t> </a:t>
          </a:r>
          <a:r>
            <a:rPr lang="en-US" dirty="0" err="1"/>
            <a:t>forløper</a:t>
          </a:r>
          <a:r>
            <a:rPr lang="en-US" dirty="0"/>
            <a:t> – </a:t>
          </a:r>
          <a:r>
            <a:rPr lang="en-US" dirty="0" err="1"/>
            <a:t>mente</a:t>
          </a:r>
          <a:r>
            <a:rPr lang="en-US" dirty="0"/>
            <a:t> </a:t>
          </a:r>
          <a:r>
            <a:rPr lang="en-US" dirty="0" err="1"/>
            <a:t>statlige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</a:t>
          </a:r>
          <a:r>
            <a:rPr lang="en-US" dirty="0" err="1"/>
            <a:t>burde</a:t>
          </a:r>
          <a:r>
            <a:rPr lang="en-US" dirty="0"/>
            <a:t> </a:t>
          </a:r>
          <a:r>
            <a:rPr lang="en-US" dirty="0" err="1"/>
            <a:t>bygge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«tall, </a:t>
          </a:r>
          <a:r>
            <a:rPr lang="en-US" dirty="0" err="1"/>
            <a:t>vekt</a:t>
          </a:r>
          <a:r>
            <a:rPr lang="en-US" dirty="0"/>
            <a:t> og </a:t>
          </a:r>
          <a:r>
            <a:rPr lang="en-US" dirty="0" err="1"/>
            <a:t>mål</a:t>
          </a:r>
          <a:r>
            <a:rPr lang="en-US" dirty="0"/>
            <a:t>», </a:t>
          </a:r>
          <a:r>
            <a:rPr lang="en-US" dirty="0" err="1"/>
            <a:t>ikke</a:t>
          </a:r>
          <a:r>
            <a:rPr lang="en-US" dirty="0"/>
            <a:t> </a:t>
          </a:r>
          <a:r>
            <a:rPr lang="en-US" dirty="0" err="1"/>
            <a:t>synsing</a:t>
          </a:r>
          <a:r>
            <a:rPr lang="en-US" dirty="0"/>
            <a:t>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 dirty="0"/>
            <a:t>Jules Dupuit (1844): la det </a:t>
          </a:r>
          <a:r>
            <a:rPr lang="en-US" dirty="0" err="1"/>
            <a:t>konseptuelle</a:t>
          </a:r>
          <a:r>
            <a:rPr lang="en-US" dirty="0"/>
            <a:t> </a:t>
          </a:r>
          <a:r>
            <a:rPr lang="en-US" dirty="0" err="1"/>
            <a:t>grunnlaget</a:t>
          </a:r>
          <a:r>
            <a:rPr lang="en-US" dirty="0"/>
            <a:t> </a:t>
          </a:r>
          <a:r>
            <a:rPr lang="en-US" dirty="0" err="1"/>
            <a:t>ved</a:t>
          </a:r>
          <a:r>
            <a:rPr lang="en-US" dirty="0"/>
            <a:t> å </a:t>
          </a:r>
          <a:r>
            <a:rPr lang="en-US" dirty="0" err="1"/>
            <a:t>kvantifisere</a:t>
          </a:r>
          <a:r>
            <a:rPr lang="en-US" dirty="0"/>
            <a:t> </a:t>
          </a:r>
          <a:r>
            <a:rPr lang="en-US" dirty="0" err="1"/>
            <a:t>konsumentoverskudd</a:t>
          </a:r>
          <a:r>
            <a:rPr lang="en-US" dirty="0"/>
            <a:t> – </a:t>
          </a:r>
          <a:r>
            <a:rPr lang="en-US" dirty="0" err="1"/>
            <a:t>fortsatt</a:t>
          </a:r>
          <a:r>
            <a:rPr lang="en-US" dirty="0"/>
            <a:t> </a:t>
          </a:r>
          <a:r>
            <a:rPr lang="en-US" dirty="0" err="1"/>
            <a:t>sentralt</a:t>
          </a:r>
          <a:r>
            <a:rPr lang="en-US" dirty="0"/>
            <a:t> i NKA i </a:t>
          </a:r>
          <a:r>
            <a:rPr lang="en-US" dirty="0" err="1"/>
            <a:t>dag</a:t>
          </a:r>
          <a:r>
            <a:rPr lang="en-US" dirty="0"/>
            <a:t>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 dirty="0"/>
            <a:t>Alfred Marshall (1890): </a:t>
          </a:r>
          <a:r>
            <a:rPr lang="en-US" dirty="0" err="1"/>
            <a:t>videreutviklet</a:t>
          </a:r>
          <a:r>
            <a:rPr lang="en-US" dirty="0"/>
            <a:t> og </a:t>
          </a:r>
          <a:r>
            <a:rPr lang="en-US" dirty="0" err="1"/>
            <a:t>formaliserte</a:t>
          </a:r>
          <a:r>
            <a:rPr lang="en-US" dirty="0"/>
            <a:t> Dupuits </a:t>
          </a:r>
          <a:r>
            <a:rPr lang="en-US" dirty="0" err="1"/>
            <a:t>idéer</a:t>
          </a:r>
          <a:r>
            <a:rPr lang="en-US" dirty="0"/>
            <a:t>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 dirty="0"/>
            <a:t>USA, Flood Control Act (1936): NKA </a:t>
          </a:r>
          <a:r>
            <a:rPr lang="en-US" dirty="0" err="1"/>
            <a:t>formalisert</a:t>
          </a:r>
          <a:r>
            <a:rPr lang="en-US" dirty="0"/>
            <a:t> – </a:t>
          </a:r>
          <a:r>
            <a:rPr lang="en-US" dirty="0" err="1"/>
            <a:t>krevde</a:t>
          </a:r>
          <a:r>
            <a:rPr lang="en-US" dirty="0"/>
            <a:t> at </a:t>
          </a:r>
          <a:r>
            <a:rPr lang="en-US" dirty="0" err="1"/>
            <a:t>nytten</a:t>
          </a:r>
          <a:r>
            <a:rPr lang="en-US" dirty="0"/>
            <a:t> </a:t>
          </a:r>
          <a:r>
            <a:rPr lang="en-US" dirty="0" err="1"/>
            <a:t>skulle</a:t>
          </a:r>
          <a:r>
            <a:rPr lang="en-US" dirty="0"/>
            <a:t> </a:t>
          </a:r>
          <a:r>
            <a:rPr lang="en-US" dirty="0" err="1"/>
            <a:t>overstige</a:t>
          </a:r>
          <a:r>
            <a:rPr lang="en-US" dirty="0"/>
            <a:t> </a:t>
          </a:r>
          <a:r>
            <a:rPr lang="en-US" dirty="0" err="1"/>
            <a:t>kostnadene</a:t>
          </a:r>
          <a:r>
            <a:rPr lang="en-US" dirty="0"/>
            <a:t> </a:t>
          </a:r>
          <a:r>
            <a:rPr lang="en-US" dirty="0" err="1"/>
            <a:t>før</a:t>
          </a:r>
          <a:r>
            <a:rPr lang="en-US" dirty="0"/>
            <a:t> </a:t>
          </a:r>
          <a:r>
            <a:rPr lang="en-US" dirty="0" err="1"/>
            <a:t>føderale</a:t>
          </a:r>
          <a:r>
            <a:rPr lang="en-US" dirty="0"/>
            <a:t> </a:t>
          </a:r>
          <a:r>
            <a:rPr lang="en-US" dirty="0" err="1"/>
            <a:t>prosjekter</a:t>
          </a:r>
          <a:r>
            <a:rPr lang="en-US" dirty="0"/>
            <a:t> </a:t>
          </a:r>
          <a:r>
            <a:rPr lang="en-US" dirty="0" err="1"/>
            <a:t>ble</a:t>
          </a:r>
          <a:r>
            <a:rPr lang="en-US" dirty="0"/>
            <a:t> </a:t>
          </a:r>
          <a:r>
            <a:rPr lang="en-US" dirty="0" err="1"/>
            <a:t>godkjent</a:t>
          </a:r>
          <a:r>
            <a:rPr lang="en-US" dirty="0"/>
            <a:t>. </a:t>
          </a:r>
          <a:r>
            <a:rPr lang="en-US" dirty="0" err="1"/>
            <a:t>Første</a:t>
          </a:r>
          <a:r>
            <a:rPr lang="en-US" dirty="0"/>
            <a:t> </a:t>
          </a:r>
          <a:r>
            <a:rPr lang="en-US" dirty="0" err="1"/>
            <a:t>systematiske</a:t>
          </a:r>
          <a:r>
            <a:rPr lang="en-US" dirty="0"/>
            <a:t> bruk av NKA i </a:t>
          </a:r>
          <a:r>
            <a:rPr lang="en-US" dirty="0" err="1"/>
            <a:t>offentlig</a:t>
          </a:r>
          <a:r>
            <a:rPr lang="en-US" dirty="0"/>
            <a:t> </a:t>
          </a:r>
          <a:r>
            <a:rPr lang="en-US" dirty="0" err="1"/>
            <a:t>beslutningstaking</a:t>
          </a:r>
          <a:endParaRPr lang="en-US" dirty="0"/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dirty="0">
            <a:solidFill>
              <a:schemeClr val="bg1"/>
            </a:solidFill>
          </a:endParaRPr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1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1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3600"/>
            <a:t>Vurder spesielt hvilke virkniger rapporten beskriver at tiltaket har</a:t>
          </a:r>
          <a:endParaRPr lang="en-US" sz="360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1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1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3600"/>
            <a:t>Les rapporten dere har fått ansvar for</a:t>
          </a:r>
          <a:endParaRPr lang="en-US" sz="36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 sz="1400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 sz="1400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Sir William Petty (1623–1687): </a:t>
          </a:r>
          <a:r>
            <a:rPr lang="en-US" sz="1400" kern="1200" dirty="0" err="1"/>
            <a:t>tidlig</a:t>
          </a:r>
          <a:r>
            <a:rPr lang="en-US" sz="1400" kern="1200" dirty="0"/>
            <a:t> </a:t>
          </a:r>
          <a:r>
            <a:rPr lang="en-US" sz="1400" kern="1200" dirty="0" err="1"/>
            <a:t>forløper</a:t>
          </a:r>
          <a:r>
            <a:rPr lang="en-US" sz="1400" kern="1200" dirty="0"/>
            <a:t> – </a:t>
          </a:r>
          <a:r>
            <a:rPr lang="en-US" sz="1400" kern="1200" dirty="0" err="1"/>
            <a:t>mente</a:t>
          </a:r>
          <a:r>
            <a:rPr lang="en-US" sz="1400" kern="1200" dirty="0"/>
            <a:t> </a:t>
          </a:r>
          <a:r>
            <a:rPr lang="en-US" sz="1400" kern="1200" dirty="0" err="1"/>
            <a:t>statlige</a:t>
          </a:r>
          <a:r>
            <a:rPr lang="en-US" sz="1400" kern="1200" dirty="0"/>
            <a:t> </a:t>
          </a:r>
          <a:r>
            <a:rPr lang="en-US" sz="1400" kern="1200" dirty="0" err="1"/>
            <a:t>beslutninger</a:t>
          </a:r>
          <a:r>
            <a:rPr lang="en-US" sz="1400" kern="1200" dirty="0"/>
            <a:t> </a:t>
          </a:r>
          <a:r>
            <a:rPr lang="en-US" sz="1400" kern="1200" dirty="0" err="1"/>
            <a:t>burde</a:t>
          </a:r>
          <a:r>
            <a:rPr lang="en-US" sz="1400" kern="1200" dirty="0"/>
            <a:t> </a:t>
          </a:r>
          <a:r>
            <a:rPr lang="en-US" sz="1400" kern="1200" dirty="0" err="1"/>
            <a:t>bygge</a:t>
          </a:r>
          <a:r>
            <a:rPr lang="en-US" sz="1400" kern="1200" dirty="0"/>
            <a:t> </a:t>
          </a:r>
          <a:r>
            <a:rPr lang="en-US" sz="1400" kern="1200" dirty="0" err="1"/>
            <a:t>på</a:t>
          </a:r>
          <a:r>
            <a:rPr lang="en-US" sz="1400" kern="1200" dirty="0"/>
            <a:t> «tall, </a:t>
          </a:r>
          <a:r>
            <a:rPr lang="en-US" sz="1400" kern="1200" dirty="0" err="1"/>
            <a:t>vekt</a:t>
          </a:r>
          <a:r>
            <a:rPr lang="en-US" sz="1400" kern="1200" dirty="0"/>
            <a:t> og </a:t>
          </a:r>
          <a:r>
            <a:rPr lang="en-US" sz="1400" kern="1200" dirty="0" err="1"/>
            <a:t>mål</a:t>
          </a:r>
          <a:r>
            <a:rPr lang="en-US" sz="1400" kern="1200" dirty="0"/>
            <a:t>», </a:t>
          </a:r>
          <a:r>
            <a:rPr lang="en-US" sz="1400" kern="1200" dirty="0" err="1"/>
            <a:t>ikke</a:t>
          </a:r>
          <a:r>
            <a:rPr lang="en-US" sz="1400" kern="1200" dirty="0"/>
            <a:t> </a:t>
          </a:r>
          <a:r>
            <a:rPr lang="en-US" sz="1400" kern="1200" dirty="0" err="1"/>
            <a:t>synsing</a:t>
          </a:r>
          <a:r>
            <a:rPr lang="en-US" sz="1400" kern="1200" dirty="0"/>
            <a:t>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Jules Dupuit (1844): la det </a:t>
          </a:r>
          <a:r>
            <a:rPr lang="en-US" sz="1400" kern="1200" dirty="0" err="1"/>
            <a:t>konseptuelle</a:t>
          </a:r>
          <a:r>
            <a:rPr lang="en-US" sz="1400" kern="1200" dirty="0"/>
            <a:t> </a:t>
          </a:r>
          <a:r>
            <a:rPr lang="en-US" sz="1400" kern="1200" dirty="0" err="1"/>
            <a:t>grunnlaget</a:t>
          </a:r>
          <a:r>
            <a:rPr lang="en-US" sz="1400" kern="1200" dirty="0"/>
            <a:t> </a:t>
          </a:r>
          <a:r>
            <a:rPr lang="en-US" sz="1400" kern="1200" dirty="0" err="1"/>
            <a:t>ved</a:t>
          </a:r>
          <a:r>
            <a:rPr lang="en-US" sz="1400" kern="1200" dirty="0"/>
            <a:t> å </a:t>
          </a:r>
          <a:r>
            <a:rPr lang="en-US" sz="1400" kern="1200" dirty="0" err="1"/>
            <a:t>kvantifisere</a:t>
          </a:r>
          <a:r>
            <a:rPr lang="en-US" sz="1400" kern="1200" dirty="0"/>
            <a:t> </a:t>
          </a:r>
          <a:r>
            <a:rPr lang="en-US" sz="1400" kern="1200" dirty="0" err="1"/>
            <a:t>konsumentoverskudd</a:t>
          </a:r>
          <a:r>
            <a:rPr lang="en-US" sz="1400" kern="1200" dirty="0"/>
            <a:t> – </a:t>
          </a:r>
          <a:r>
            <a:rPr lang="en-US" sz="1400" kern="1200" dirty="0" err="1"/>
            <a:t>fortsatt</a:t>
          </a:r>
          <a:r>
            <a:rPr lang="en-US" sz="1400" kern="1200" dirty="0"/>
            <a:t> </a:t>
          </a:r>
          <a:r>
            <a:rPr lang="en-US" sz="1400" kern="1200" dirty="0" err="1"/>
            <a:t>sentralt</a:t>
          </a:r>
          <a:r>
            <a:rPr lang="en-US" sz="1400" kern="1200" dirty="0"/>
            <a:t> i NKA i </a:t>
          </a:r>
          <a:r>
            <a:rPr lang="en-US" sz="1400" kern="1200" dirty="0" err="1"/>
            <a:t>dag</a:t>
          </a:r>
          <a:r>
            <a:rPr lang="en-US" sz="1400" kern="1200" dirty="0"/>
            <a:t>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Alfred Marshall (1890): </a:t>
          </a:r>
          <a:r>
            <a:rPr lang="en-US" sz="1400" kern="1200" dirty="0" err="1"/>
            <a:t>videreutviklet</a:t>
          </a:r>
          <a:r>
            <a:rPr lang="en-US" sz="1400" kern="1200" dirty="0"/>
            <a:t> og </a:t>
          </a:r>
          <a:r>
            <a:rPr lang="en-US" sz="1400" kern="1200" dirty="0" err="1"/>
            <a:t>formaliserte</a:t>
          </a:r>
          <a:r>
            <a:rPr lang="en-US" sz="1400" kern="1200" dirty="0"/>
            <a:t> Dupuits </a:t>
          </a:r>
          <a:r>
            <a:rPr lang="en-US" sz="1400" kern="1200" dirty="0" err="1"/>
            <a:t>idéer</a:t>
          </a:r>
          <a:r>
            <a:rPr lang="en-US" sz="1400" kern="1200" dirty="0"/>
            <a:t>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USA, Flood Control Act (1936): NKA </a:t>
          </a:r>
          <a:r>
            <a:rPr lang="en-US" sz="1400" kern="1200" dirty="0" err="1"/>
            <a:t>formalisert</a:t>
          </a:r>
          <a:r>
            <a:rPr lang="en-US" sz="1400" kern="1200" dirty="0"/>
            <a:t> – </a:t>
          </a:r>
          <a:r>
            <a:rPr lang="en-US" sz="1400" kern="1200" dirty="0" err="1"/>
            <a:t>krevde</a:t>
          </a:r>
          <a:r>
            <a:rPr lang="en-US" sz="1400" kern="1200" dirty="0"/>
            <a:t> at </a:t>
          </a:r>
          <a:r>
            <a:rPr lang="en-US" sz="1400" kern="1200" dirty="0" err="1"/>
            <a:t>nytten</a:t>
          </a:r>
          <a:r>
            <a:rPr lang="en-US" sz="1400" kern="1200" dirty="0"/>
            <a:t> </a:t>
          </a:r>
          <a:r>
            <a:rPr lang="en-US" sz="1400" kern="1200" dirty="0" err="1"/>
            <a:t>skulle</a:t>
          </a:r>
          <a:r>
            <a:rPr lang="en-US" sz="1400" kern="1200" dirty="0"/>
            <a:t> </a:t>
          </a:r>
          <a:r>
            <a:rPr lang="en-US" sz="1400" kern="1200" dirty="0" err="1"/>
            <a:t>overstige</a:t>
          </a:r>
          <a:r>
            <a:rPr lang="en-US" sz="1400" kern="1200" dirty="0"/>
            <a:t> </a:t>
          </a:r>
          <a:r>
            <a:rPr lang="en-US" sz="1400" kern="1200" dirty="0" err="1"/>
            <a:t>kostnadene</a:t>
          </a:r>
          <a:r>
            <a:rPr lang="en-US" sz="1400" kern="1200" dirty="0"/>
            <a:t> </a:t>
          </a:r>
          <a:r>
            <a:rPr lang="en-US" sz="1400" kern="1200" dirty="0" err="1"/>
            <a:t>før</a:t>
          </a:r>
          <a:r>
            <a:rPr lang="en-US" sz="1400" kern="1200" dirty="0"/>
            <a:t> </a:t>
          </a:r>
          <a:r>
            <a:rPr lang="en-US" sz="1400" kern="1200" dirty="0" err="1"/>
            <a:t>føderale</a:t>
          </a:r>
          <a:r>
            <a:rPr lang="en-US" sz="1400" kern="1200" dirty="0"/>
            <a:t> </a:t>
          </a:r>
          <a:r>
            <a:rPr lang="en-US" sz="1400" kern="1200" dirty="0" err="1"/>
            <a:t>prosjekter</a:t>
          </a:r>
          <a:r>
            <a:rPr lang="en-US" sz="1400" kern="1200" dirty="0"/>
            <a:t> </a:t>
          </a:r>
          <a:r>
            <a:rPr lang="en-US" sz="1400" kern="1200" dirty="0" err="1"/>
            <a:t>ble</a:t>
          </a:r>
          <a:r>
            <a:rPr lang="en-US" sz="1400" kern="1200" dirty="0"/>
            <a:t> </a:t>
          </a:r>
          <a:r>
            <a:rPr lang="en-US" sz="1400" kern="1200" dirty="0" err="1"/>
            <a:t>godkjent</a:t>
          </a:r>
          <a:r>
            <a:rPr lang="en-US" sz="1400" kern="1200" dirty="0"/>
            <a:t>. </a:t>
          </a:r>
          <a:r>
            <a:rPr lang="en-US" sz="1400" kern="1200" dirty="0" err="1"/>
            <a:t>Første</a:t>
          </a:r>
          <a:r>
            <a:rPr lang="en-US" sz="1400" kern="1200" dirty="0"/>
            <a:t> </a:t>
          </a:r>
          <a:r>
            <a:rPr lang="en-US" sz="1400" kern="1200" dirty="0" err="1"/>
            <a:t>systematiske</a:t>
          </a:r>
          <a:r>
            <a:rPr lang="en-US" sz="1400" kern="1200" dirty="0"/>
            <a:t> bruk av NKA i </a:t>
          </a:r>
          <a:r>
            <a:rPr lang="en-US" sz="1400" kern="1200" dirty="0" err="1"/>
            <a:t>offentlig</a:t>
          </a:r>
          <a:r>
            <a:rPr lang="en-US" sz="1400" kern="1200" dirty="0"/>
            <a:t> </a:t>
          </a:r>
          <a:r>
            <a:rPr lang="en-US" sz="1400" kern="1200" dirty="0" err="1"/>
            <a:t>beslutningstaking</a:t>
          </a:r>
          <a:endParaRPr lang="en-US" sz="1400" kern="1200" dirty="0"/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0297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kern="1200" dirty="0">
            <a:solidFill>
              <a:schemeClr val="bg1"/>
            </a:solidFill>
          </a:endParaRPr>
        </a:p>
      </dsp:txBody>
      <dsp:txXfrm>
        <a:off x="70001" y="80298"/>
        <a:ext cx="10375598" cy="1293979"/>
      </dsp:txXfrm>
    </dsp:sp>
    <dsp:sp modelId="{EBF8A018-8B07-4657-9978-B1105A7EA0CE}">
      <dsp:nvSpPr>
        <dsp:cNvPr id="0" name=""/>
        <dsp:cNvSpPr/>
      </dsp:nvSpPr>
      <dsp:spPr>
        <a:xfrm>
          <a:off x="0" y="1458678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Les rapporten dere har fått ansvar for</a:t>
          </a:r>
          <a:endParaRPr lang="en-US" sz="3600" kern="1200" dirty="0"/>
        </a:p>
      </dsp:txBody>
      <dsp:txXfrm>
        <a:off x="70001" y="1528679"/>
        <a:ext cx="10375598" cy="1293979"/>
      </dsp:txXfrm>
    </dsp:sp>
    <dsp:sp modelId="{BD3E2B84-0D0A-4DC8-BB8A-18FEEB66BE91}">
      <dsp:nvSpPr>
        <dsp:cNvPr id="0" name=""/>
        <dsp:cNvSpPr/>
      </dsp:nvSpPr>
      <dsp:spPr>
        <a:xfrm>
          <a:off x="0" y="2907059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Vurder spesielt hvilke virkniger rapporten beskriver at tiltaket har</a:t>
          </a:r>
          <a:endParaRPr lang="en-US" sz="3600" kern="1200"/>
        </a:p>
      </dsp:txBody>
      <dsp:txXfrm>
        <a:off x="70001" y="2977060"/>
        <a:ext cx="10375598" cy="12939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66474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5622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3008</TotalTime>
  <Words>806</Words>
  <Application>Microsoft Office PowerPoint</Application>
  <PresentationFormat>Widescreen</PresentationFormat>
  <Paragraphs>155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Om kurset</vt:lpstr>
      <vt:lpstr>PowerPoint Presentation</vt:lpstr>
      <vt:lpstr>PowerPoint Presentation</vt:lpstr>
      <vt:lpstr>Hva er nytte-kostnadsanalyse?</vt:lpstr>
      <vt:lpstr>Hvorfor? </vt:lpstr>
      <vt:lpstr>Historisk utvikling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Hjemmelekse</vt:lpstr>
      <vt:lpstr>Mer om samfunnsøkonomiske analyser</vt:lpstr>
      <vt:lpstr>Vanlige utfordringer</vt:lpstr>
      <vt:lpstr>Arbeidsfasene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2026-08-17T09:22:52Z</dcterms:modified>
</cp:coreProperties>
</file>